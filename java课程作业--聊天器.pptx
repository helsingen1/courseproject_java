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256" r:id="rId4"/>
    <p:sldId id="288" r:id="rId5"/>
    <p:sldId id="271" r:id="rId6"/>
    <p:sldId id="289" r:id="rId7"/>
    <p:sldId id="285" r:id="rId9"/>
    <p:sldId id="295" r:id="rId10"/>
    <p:sldId id="286" r:id="rId11"/>
    <p:sldId id="301" r:id="rId12"/>
    <p:sldId id="287" r:id="rId13"/>
    <p:sldId id="309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0" userDrawn="1">
          <p15:clr>
            <a:srgbClr val="A4A3A4"/>
          </p15:clr>
        </p15:guide>
        <p15:guide id="2" pos="6085" userDrawn="1">
          <p15:clr>
            <a:srgbClr val="A4A3A4"/>
          </p15:clr>
        </p15:guide>
        <p15:guide id="3" pos="733" userDrawn="1">
          <p15:clr>
            <a:srgbClr val="A4A3A4"/>
          </p15:clr>
        </p15:guide>
        <p15:guide id="4" pos="6945" userDrawn="1">
          <p15:clr>
            <a:srgbClr val="A4A3A4"/>
          </p15:clr>
        </p15:guide>
        <p15:guide id="5" orient="horz" pos="524" userDrawn="1">
          <p15:clr>
            <a:srgbClr val="A4A3A4"/>
          </p15:clr>
        </p15:guide>
        <p15:guide id="6" orient="horz" pos="90" userDrawn="1">
          <p15:clr>
            <a:srgbClr val="A4A3A4"/>
          </p15:clr>
        </p15:guide>
        <p15:guide id="7" orient="horz" pos="1210" userDrawn="1">
          <p15:clr>
            <a:srgbClr val="A4A3A4"/>
          </p15:clr>
        </p15:guide>
        <p15:guide id="8" orient="horz" pos="3217" userDrawn="1">
          <p15:clr>
            <a:srgbClr val="A4A3A4"/>
          </p15:clr>
        </p15:guide>
        <p15:guide id="9" pos="2646" userDrawn="1">
          <p15:clr>
            <a:srgbClr val="A4A3A4"/>
          </p15:clr>
        </p15:guide>
        <p15:guide id="10" pos="5031" userDrawn="1">
          <p15:clr>
            <a:srgbClr val="A4A3A4"/>
          </p15:clr>
        </p15:guide>
        <p15:guide id="11" orient="horz" pos="1788" userDrawn="1">
          <p15:clr>
            <a:srgbClr val="A4A3A4"/>
          </p15:clr>
        </p15:guide>
        <p15:guide id="12" orient="horz" pos="19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77"/>
    <a:srgbClr val="ED7D31"/>
    <a:srgbClr val="006D33"/>
    <a:srgbClr val="D9D9D9"/>
    <a:srgbClr val="F4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90" y="222"/>
      </p:cViewPr>
      <p:guideLst>
        <p:guide orient="horz" pos="2420"/>
        <p:guide pos="6085"/>
        <p:guide pos="733"/>
        <p:guide pos="6945"/>
        <p:guide orient="horz" pos="524"/>
        <p:guide orient="horz" pos="90"/>
        <p:guide orient="horz" pos="1210"/>
        <p:guide orient="horz" pos="3217"/>
        <p:guide pos="2646"/>
        <p:guide pos="5031"/>
        <p:guide orient="horz" pos="1788"/>
        <p:guide orient="horz" pos="19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07C9B-F267-4A03-AD17-089EEDB418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4DF3B-20F9-4663-ACCD-B16856B4F9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6230319"/>
            <a:ext cx="12192000" cy="627681"/>
            <a:chOff x="0" y="5888735"/>
            <a:chExt cx="12192000" cy="969265"/>
          </a:xfrm>
        </p:grpSpPr>
        <p:sp>
          <p:nvSpPr>
            <p:cNvPr id="7" name="任意多边形: 形状 6"/>
            <p:cNvSpPr/>
            <p:nvPr/>
          </p:nvSpPr>
          <p:spPr>
            <a:xfrm>
              <a:off x="0" y="5888736"/>
              <a:ext cx="12192000" cy="969264"/>
            </a:xfrm>
            <a:custGeom>
              <a:avLst/>
              <a:gdLst>
                <a:gd name="connsiteX0" fmla="*/ 12192000 w 12192000"/>
                <a:gd name="connsiteY0" fmla="*/ 0 h 834158"/>
                <a:gd name="connsiteX1" fmla="*/ 12192000 w 12192000"/>
                <a:gd name="connsiteY1" fmla="*/ 834158 h 834158"/>
                <a:gd name="connsiteX2" fmla="*/ 0 w 12192000"/>
                <a:gd name="connsiteY2" fmla="*/ 834158 h 834158"/>
                <a:gd name="connsiteX3" fmla="*/ 0 w 12192000"/>
                <a:gd name="connsiteY3" fmla="*/ 421770 h 834158"/>
                <a:gd name="connsiteX4" fmla="*/ 703930 w 12192000"/>
                <a:gd name="connsiteY4" fmla="*/ 493800 h 834158"/>
                <a:gd name="connsiteX5" fmla="*/ 4867275 w 12192000"/>
                <a:gd name="connsiteY5" fmla="*/ 671363 h 834158"/>
                <a:gd name="connsiteX6" fmla="*/ 12109997 w 12192000"/>
                <a:gd name="connsiteY6" fmla="*/ 22736 h 8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34158">
                  <a:moveTo>
                    <a:pt x="12192000" y="0"/>
                  </a:moveTo>
                  <a:lnTo>
                    <a:pt x="12192000" y="834158"/>
                  </a:lnTo>
                  <a:lnTo>
                    <a:pt x="0" y="834158"/>
                  </a:lnTo>
                  <a:lnTo>
                    <a:pt x="0" y="421770"/>
                  </a:lnTo>
                  <a:lnTo>
                    <a:pt x="703930" y="493800"/>
                  </a:lnTo>
                  <a:cubicBezTo>
                    <a:pt x="1941539" y="607040"/>
                    <a:pt x="3359810" y="671363"/>
                    <a:pt x="4867275" y="671363"/>
                  </a:cubicBezTo>
                  <a:cubicBezTo>
                    <a:pt x="7882206" y="671363"/>
                    <a:pt x="10540358" y="414071"/>
                    <a:pt x="12109997" y="22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1" y="5888735"/>
              <a:ext cx="6540284" cy="693261"/>
            </a:xfrm>
            <a:custGeom>
              <a:avLst/>
              <a:gdLst>
                <a:gd name="connsiteX0" fmla="*/ 0 w 5170531"/>
                <a:gd name="connsiteY0" fmla="*/ 0 h 794504"/>
                <a:gd name="connsiteX1" fmla="*/ 509126 w 5170531"/>
                <a:gd name="connsiteY1" fmla="*/ 127114 h 794504"/>
                <a:gd name="connsiteX2" fmla="*/ 4499910 w 5170531"/>
                <a:gd name="connsiteY2" fmla="*/ 720789 h 794504"/>
                <a:gd name="connsiteX3" fmla="*/ 5170531 w 5170531"/>
                <a:gd name="connsiteY3" fmla="*/ 768690 h 794504"/>
                <a:gd name="connsiteX4" fmla="*/ 4943847 w 5170531"/>
                <a:gd name="connsiteY4" fmla="*/ 779391 h 794504"/>
                <a:gd name="connsiteX5" fmla="*/ 3958041 w 5170531"/>
                <a:gd name="connsiteY5" fmla="*/ 794504 h 794504"/>
                <a:gd name="connsiteX6" fmla="*/ 499235 w 5170531"/>
                <a:gd name="connsiteY6" fmla="*/ 576626 h 794504"/>
                <a:gd name="connsiteX7" fmla="*/ 0 w 5170531"/>
                <a:gd name="connsiteY7" fmla="*/ 484608 h 794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0531" h="794504">
                  <a:moveTo>
                    <a:pt x="0" y="0"/>
                  </a:moveTo>
                  <a:lnTo>
                    <a:pt x="509126" y="127114"/>
                  </a:lnTo>
                  <a:cubicBezTo>
                    <a:pt x="1656276" y="394427"/>
                    <a:pt x="3011164" y="598944"/>
                    <a:pt x="4499910" y="720789"/>
                  </a:cubicBezTo>
                  <a:lnTo>
                    <a:pt x="5170531" y="768690"/>
                  </a:lnTo>
                  <a:lnTo>
                    <a:pt x="4943847" y="779391"/>
                  </a:lnTo>
                  <a:cubicBezTo>
                    <a:pt x="4625423" y="789300"/>
                    <a:pt x="4295728" y="794504"/>
                    <a:pt x="3958041" y="794504"/>
                  </a:cubicBezTo>
                  <a:cubicBezTo>
                    <a:pt x="2607293" y="794504"/>
                    <a:pt x="1384420" y="711242"/>
                    <a:pt x="499235" y="576626"/>
                  </a:cubicBezTo>
                  <a:lnTo>
                    <a:pt x="0" y="48460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梯形 9"/>
          <p:cNvSpPr/>
          <p:nvPr/>
        </p:nvSpPr>
        <p:spPr>
          <a:xfrm rot="16200000">
            <a:off x="72797" y="79396"/>
            <a:ext cx="375889" cy="808817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DIN Light"/>
              <a:ea typeface="微软雅黑 Light" panose="020B0502040204020203" charset="-122"/>
            </a:endParaRPr>
          </a:p>
        </p:txBody>
      </p:sp>
      <p:sp>
        <p:nvSpPr>
          <p:cNvPr id="11" name="梯形 10"/>
          <p:cNvSpPr/>
          <p:nvPr/>
        </p:nvSpPr>
        <p:spPr>
          <a:xfrm rot="16200000">
            <a:off x="57549" y="238020"/>
            <a:ext cx="267255" cy="669682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Light"/>
              <a:ea typeface="微软雅黑 Light" panose="020B0502040204020203" charset="-122"/>
              <a:cs typeface="+mn-cs"/>
            </a:endParaRPr>
          </a:p>
        </p:txBody>
      </p:sp>
      <p:pic>
        <p:nvPicPr>
          <p:cNvPr id="12" name="Picture 2" descr="https://timgsa.baidu.com/timg?image&amp;quality=80&amp;size=b9999_10000&amp;sec=1543772355175&amp;di=c79abbaff2a9fe46052298e3846c46fe&amp;imgtype=0&amp;src=http%3A%2F%2Fpic44.photophoto.cn%2F20170707%2F0007019917203103_b.jpg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"/>
          <a:stretch>
            <a:fillRect/>
          </a:stretch>
        </p:blipFill>
        <p:spPr bwMode="auto">
          <a:xfrm>
            <a:off x="11263773" y="205156"/>
            <a:ext cx="635716" cy="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灯片编号占位符 5"/>
          <p:cNvSpPr>
            <a:spLocks noGrp="1"/>
          </p:cNvSpPr>
          <p:nvPr userDrawn="1">
            <p:ph type="sldNum" sz="quarter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png"/><Relationship Id="rId3" Type="http://schemas.openxmlformats.org/officeDocument/2006/relationships/image" Target="../media/image9.wmf"/><Relationship Id="rId20" Type="http://schemas.openxmlformats.org/officeDocument/2006/relationships/vmlDrawing" Target="../drawings/vmlDrawing1.vml"/><Relationship Id="rId2" Type="http://schemas.openxmlformats.org/officeDocument/2006/relationships/oleObject" Target="../embeddings/oleObject1.bin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8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7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6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t="39498" r="10496" b="1702"/>
          <a:stretch>
            <a:fillRect/>
          </a:stretch>
        </p:blipFill>
        <p:spPr>
          <a:xfrm>
            <a:off x="0" y="0"/>
            <a:ext cx="12192000" cy="33495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1020" y="3946525"/>
            <a:ext cx="109861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54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课程作业</a:t>
            </a:r>
            <a:r>
              <a:rPr lang="en-US" altLang="zh-CN" sz="54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54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聊天器的</a:t>
            </a:r>
            <a:r>
              <a:rPr lang="zh-CN" altLang="en-US" sz="54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5400" b="1" spc="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339894"/>
            <a:ext cx="12192000" cy="1290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270038"/>
            <a:ext cx="12192000" cy="1290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25540" y="4869708"/>
            <a:ext cx="6140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HUAZHONG AGRICULTURAL UNIVERSITY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214084" y="5016125"/>
            <a:ext cx="1999647" cy="45719"/>
            <a:chOff x="9458460" y="4956809"/>
            <a:chExt cx="1999647" cy="45719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9504179" y="4982095"/>
              <a:ext cx="195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9458460" y="4956809"/>
              <a:ext cx="45719" cy="45719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>
            <a:off x="980174" y="5016125"/>
            <a:ext cx="1999647" cy="45719"/>
            <a:chOff x="9458460" y="4956809"/>
            <a:chExt cx="1999647" cy="45719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9504179" y="4982095"/>
              <a:ext cx="195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9458460" y="4956809"/>
              <a:ext cx="45719" cy="45719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690395" y="5762260"/>
            <a:ext cx="4811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姓名：王文杰 丨 学号：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2024317220317 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班级：计算机类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2403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班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1"/>
          <p:cNvSpPr/>
          <p:nvPr/>
        </p:nvSpPr>
        <p:spPr>
          <a:xfrm>
            <a:off x="388427" y="0"/>
            <a:ext cx="4011561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charset="-122"/>
              <a:ea typeface="思源黑体 CN Light" panose="020B0300000000000000" charset="-122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6" r="37185"/>
          <a:stretch>
            <a:fillRect/>
          </a:stretch>
        </p:blipFill>
        <p:spPr>
          <a:xfrm>
            <a:off x="0" y="0"/>
            <a:ext cx="4215539" cy="6858000"/>
          </a:xfrm>
          <a:custGeom>
            <a:avLst/>
            <a:gdLst>
              <a:gd name="connsiteX0" fmla="*/ 0 w 4215539"/>
              <a:gd name="connsiteY0" fmla="*/ 0 h 6858000"/>
              <a:gd name="connsiteX1" fmla="*/ 4215539 w 4215539"/>
              <a:gd name="connsiteY1" fmla="*/ 0 h 6858000"/>
              <a:gd name="connsiteX2" fmla="*/ 4215539 w 4215539"/>
              <a:gd name="connsiteY2" fmla="*/ 6858000 h 6858000"/>
              <a:gd name="connsiteX3" fmla="*/ 0 w 421553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5539" h="6858000">
                <a:moveTo>
                  <a:pt x="0" y="0"/>
                </a:moveTo>
                <a:lnTo>
                  <a:pt x="4215539" y="0"/>
                </a:lnTo>
                <a:lnTo>
                  <a:pt x="42155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圆角矩形 1"/>
          <p:cNvSpPr/>
          <p:nvPr/>
        </p:nvSpPr>
        <p:spPr>
          <a:xfrm>
            <a:off x="0" y="0"/>
            <a:ext cx="4215539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60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charset="-122"/>
              <a:ea typeface="思源黑体 CN Light" panose="020B0300000000000000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6000" y="1443841"/>
            <a:ext cx="5205274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   </a:t>
            </a: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视频展示</a:t>
            </a: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第二部分    </a:t>
            </a: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kumimoji="0" lang="zh-CN" altLang="en-US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第三部分    具体</a:t>
            </a: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讲解</a:t>
            </a:r>
            <a:endParaRPr kumimoji="0" lang="zh-CN" altLang="en-US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第四部分    实验报告</a:t>
            </a:r>
            <a:endParaRPr kumimoji="0" lang="zh-CN" altLang="en-US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152195" y="2043428"/>
            <a:ext cx="4631888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8" name="直接连接符 7"/>
          <p:cNvCxnSpPr/>
          <p:nvPr/>
        </p:nvCxnSpPr>
        <p:spPr>
          <a:xfrm>
            <a:off x="6152195" y="2889457"/>
            <a:ext cx="4631888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9" name="直接连接符 8"/>
          <p:cNvCxnSpPr/>
          <p:nvPr/>
        </p:nvCxnSpPr>
        <p:spPr>
          <a:xfrm>
            <a:off x="6152195" y="3793892"/>
            <a:ext cx="4631888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10" name="直接连接符 9"/>
          <p:cNvCxnSpPr/>
          <p:nvPr/>
        </p:nvCxnSpPr>
        <p:spPr>
          <a:xfrm>
            <a:off x="6152195" y="4637953"/>
            <a:ext cx="4495409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grpSp>
        <p:nvGrpSpPr>
          <p:cNvPr id="108" name="组合 107"/>
          <p:cNvGrpSpPr/>
          <p:nvPr/>
        </p:nvGrpSpPr>
        <p:grpSpPr>
          <a:xfrm>
            <a:off x="1235075" y="2818465"/>
            <a:ext cx="1843088" cy="1221070"/>
            <a:chOff x="1185596" y="2806967"/>
            <a:chExt cx="1843088" cy="1221070"/>
          </a:xfrm>
        </p:grpSpPr>
        <p:sp>
          <p:nvSpPr>
            <p:cNvPr id="105" name="文本框 104"/>
            <p:cNvSpPr txBox="1"/>
            <p:nvPr/>
          </p:nvSpPr>
          <p:spPr>
            <a:xfrm>
              <a:off x="1185596" y="2806967"/>
              <a:ext cx="18430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目录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1305170" y="3689483"/>
              <a:ext cx="1536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+mn-cs"/>
                </a:rPr>
                <a:t>CONTENTS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 panose="020B0300000000000000" charset="-122"/>
                <a:ea typeface="思源黑体 CN Light" panose="020B0300000000000000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 flipV="1">
            <a:off x="2890500" y="2149889"/>
            <a:ext cx="844416" cy="6304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497050" y="4244942"/>
            <a:ext cx="569277" cy="42499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1038335" y="4065446"/>
            <a:ext cx="452566" cy="3378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2943108" y="2543622"/>
            <a:ext cx="452566" cy="3378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2" r="16722" b="9445"/>
          <a:stretch>
            <a:fillRect/>
          </a:stretch>
        </p:blipFill>
        <p:spPr>
          <a:xfrm>
            <a:off x="0" y="64770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759783" y="1443985"/>
            <a:ext cx="6672434" cy="2278148"/>
            <a:chOff x="2759783" y="1278885"/>
            <a:chExt cx="6672434" cy="2278148"/>
          </a:xfrm>
        </p:grpSpPr>
        <p:grpSp>
          <p:nvGrpSpPr>
            <p:cNvPr id="3" name="组合 2"/>
            <p:cNvGrpSpPr/>
            <p:nvPr/>
          </p:nvGrpSpPr>
          <p:grpSpPr>
            <a:xfrm>
              <a:off x="2759783" y="1278885"/>
              <a:ext cx="6672434" cy="2278148"/>
              <a:chOff x="3233566" y="1418585"/>
              <a:chExt cx="6672434" cy="2278148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3233566" y="2332993"/>
                <a:ext cx="6672434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6000" b="1" i="0" u="none" strike="noStrike" kern="1200" cap="none" spc="20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视频</a:t>
                </a:r>
                <a:r>
                  <a:rPr kumimoji="0" lang="zh-CN" altLang="en-US" sz="6000" b="1" i="0" u="none" strike="noStrike" kern="1200" cap="none" spc="20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展示</a:t>
                </a:r>
                <a:endParaRPr kumimoji="0" lang="zh-CN" altLang="en-US" sz="6000" b="1" i="0" u="none" strike="noStrike" kern="1200" cap="none" spc="2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694999" y="3327401"/>
                <a:ext cx="5749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US" altLang="zh-CN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Light" panose="020B0502040204020203" pitchFamily="34" charset="0"/>
                    <a:ea typeface="思源黑体 CN Light" panose="020B0300000000000000" charset="-122"/>
                    <a:cs typeface="Segoe UI Light" panose="020B0502040204020203" pitchFamily="34" charset="0"/>
                  </a:rPr>
                  <a:t>ENTER YOUR SUBTITLE</a:t>
                </a:r>
                <a:endParaRPr kumimoji="0" lang="zh-CN" altLang="en-US" sz="18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 Light" panose="020B0502040204020203" pitchFamily="34" charset="0"/>
                  <a:ea typeface="思源黑体 CN Light" panose="020B0300000000000000" charset="-122"/>
                  <a:cs typeface="Segoe UI Light" panose="020B0502040204020203" pitchFamily="34" charset="0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393018" y="1418585"/>
                <a:ext cx="23535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0" i="0" u="none" strike="noStrike" kern="1200" cap="none" spc="10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 01</a:t>
                </a:r>
                <a:endParaRPr kumimoji="0" lang="zh-CN" altLang="en-US" sz="3200" b="0" i="0" u="none" strike="noStrike" kern="1200" cap="none" spc="1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5924550" y="2006600"/>
              <a:ext cx="3429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7252" y="241858"/>
            <a:ext cx="32151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8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聊天器运行视频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0230" y="1050290"/>
            <a:ext cx="7397750" cy="40119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09915" y="929005"/>
            <a:ext cx="3528695" cy="507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、运行服务端界面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2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、运行第一个客户端，登陆用户：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wwj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、运行第二个客户端，登陆用户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java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4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、两个用户进行实时聊天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5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、发送文件与接受文件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6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、关闭客户端和服务器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7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、登陆相同用户名报错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2" r="16722" b="9445"/>
          <a:stretch>
            <a:fillRect/>
          </a:stretch>
        </p:blipFill>
        <p:spPr>
          <a:xfrm>
            <a:off x="0" y="64770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46118" y="2254888"/>
            <a:ext cx="667243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kumimoji="0" lang="zh-CN" altLang="en-US" sz="6000" b="1" i="0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kumimoji="0" lang="zh-CN" altLang="en-US" sz="6000" b="1" i="0" u="none" strike="noStrike" kern="1200" cap="none" spc="2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1216" y="3352801"/>
            <a:ext cx="574956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Light" panose="020B0502040204020203" pitchFamily="34" charset="0"/>
              <a:ea typeface="思源黑体 CN Light" panose="020B0300000000000000" charset="-122"/>
              <a:cs typeface="Segoe UI Light" panose="020B0502040204020203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19235" y="1443985"/>
            <a:ext cx="235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 02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924550" y="2171700"/>
            <a:ext cx="342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https://timgsa.baidu.com/timg?image&amp;quality=80&amp;size=b9999_10000&amp;sec=1543772355175&amp;di=c79abbaff2a9fe46052298e3846c46fe&amp;imgtype=0&amp;src=http%3A%2F%2Fpic44.photophoto.cn%2F20170707%2F0007019917203103_b.jpg"/>
          <p:cNvPicPr>
            <a:picLocks noChangeAspect="1" noChangeArrowheads="1"/>
          </p:cNvPicPr>
          <p:nvPr/>
        </p:nvPicPr>
        <p:blipFill rotWithShape="1"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"/>
          <a:stretch>
            <a:fillRect/>
          </a:stretch>
        </p:blipFill>
        <p:spPr bwMode="auto">
          <a:xfrm>
            <a:off x="11263773" y="205156"/>
            <a:ext cx="635716" cy="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07535" y="539115"/>
          <a:ext cx="1607820" cy="132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07535" y="539115"/>
                        <a:ext cx="1607820" cy="1324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295275"/>
            <a:ext cx="2665095" cy="5715635"/>
          </a:xfrm>
          <a:prstGeom prst="rect">
            <a:avLst/>
          </a:prstGeom>
        </p:spPr>
      </p:pic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86170" y="539115"/>
          <a:ext cx="1450975" cy="1195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5" imgW="971550" imgH="800100" progId="Package">
                  <p:embed/>
                </p:oleObj>
              </mc:Choice>
              <mc:Fallback>
                <p:oleObj name="" showAsIcon="1" r:id="rId5" imgW="971550" imgH="80010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86170" y="539115"/>
                        <a:ext cx="1450975" cy="1195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089900" y="466725"/>
          <a:ext cx="121856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showAsIcon="1" r:id="rId7" imgW="971550" imgH="800100" progId="Package">
                  <p:embed/>
                </p:oleObj>
              </mc:Choice>
              <mc:Fallback>
                <p:oleObj name="" showAsIcon="1" r:id="rId7" imgW="971550" imgH="800100" progId="Package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89900" y="466725"/>
                        <a:ext cx="1218565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31055" y="2117725"/>
          <a:ext cx="1384300" cy="114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9" imgW="971550" imgH="800100" progId="Package">
                  <p:embed/>
                </p:oleObj>
              </mc:Choice>
              <mc:Fallback>
                <p:oleObj name="" showAsIcon="1" r:id="rId9" imgW="971550" imgH="800100" progId="Package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1055" y="2117725"/>
                        <a:ext cx="1384300" cy="1140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99200" y="2117725"/>
          <a:ext cx="1337945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showAsIcon="1" r:id="rId11" imgW="971550" imgH="800100" progId="Package">
                  <p:embed/>
                </p:oleObj>
              </mc:Choice>
              <mc:Fallback>
                <p:oleObj name="" showAsIcon="1" r:id="rId11" imgW="971550" imgH="800100" progId="Package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99200" y="2117725"/>
                        <a:ext cx="1337945" cy="1102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25670" y="3512185"/>
          <a:ext cx="139509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showAsIcon="1" r:id="rId13" imgW="971550" imgH="800100" progId="Package">
                  <p:embed/>
                </p:oleObj>
              </mc:Choice>
              <mc:Fallback>
                <p:oleObj name="" showAsIcon="1" r:id="rId13" imgW="971550" imgH="800100" progId="Package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25670" y="3512185"/>
                        <a:ext cx="1395095" cy="114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25565" y="3582035"/>
          <a:ext cx="131064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" showAsIcon="1" r:id="rId15" imgW="971550" imgH="800100" progId="Package">
                  <p:embed/>
                </p:oleObj>
              </mc:Choice>
              <mc:Fallback>
                <p:oleObj name="" showAsIcon="1" r:id="rId15" imgW="971550" imgH="800100" progId="Package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25565" y="3582035"/>
                        <a:ext cx="131064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089900" y="3582035"/>
          <a:ext cx="131064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" showAsIcon="1" r:id="rId17" imgW="971550" imgH="800100" progId="Package">
                  <p:embed/>
                </p:oleObj>
              </mc:Choice>
              <mc:Fallback>
                <p:oleObj name="" showAsIcon="1" r:id="rId17" imgW="971550" imgH="800100" progId="Package">
                  <p:embed/>
                  <p:pic>
                    <p:nvPicPr>
                      <p:cNvPr id="0" name="图片 103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89900" y="3582035"/>
                        <a:ext cx="131064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1499235" y="6106160"/>
            <a:ext cx="236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项目结构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979035" y="5280025"/>
            <a:ext cx="4599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双击即可打开附件查看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代码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2" r="16722" b="9445"/>
          <a:stretch>
            <a:fillRect/>
          </a:stretch>
        </p:blipFill>
        <p:spPr>
          <a:xfrm>
            <a:off x="0" y="64770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9783" y="2358393"/>
            <a:ext cx="667243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具体讲解</a:t>
            </a:r>
            <a:endParaRPr kumimoji="0" lang="zh-CN" altLang="en-US" sz="6000" b="1" i="0" u="none" strike="noStrike" kern="1200" cap="none" spc="2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1216" y="3352801"/>
            <a:ext cx="574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3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Light" panose="020B0502040204020203" pitchFamily="34" charset="0"/>
                <a:ea typeface="思源黑体 CN Light" panose="020B0300000000000000" charset="-122"/>
                <a:cs typeface="Segoe UI Light" panose="020B0502040204020203" pitchFamily="34" charset="0"/>
              </a:rPr>
              <a:t>ENTER YOUR SUBTITLE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Light" panose="020B0502040204020203" pitchFamily="34" charset="0"/>
              <a:ea typeface="思源黑体 CN Light" panose="020B0300000000000000" charset="-122"/>
              <a:cs typeface="Segoe UI Light" panose="020B0502040204020203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19235" y="1443985"/>
            <a:ext cx="235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 03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924550" y="2171700"/>
            <a:ext cx="342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4495394" y="1843897"/>
            <a:ext cx="3201213" cy="3050468"/>
            <a:chOff x="4430081" y="1961827"/>
            <a:chExt cx="3201213" cy="3050468"/>
          </a:xfrm>
        </p:grpSpPr>
        <p:sp>
          <p:nvSpPr>
            <p:cNvPr id="24" name="椭圆 23"/>
            <p:cNvSpPr/>
            <p:nvPr/>
          </p:nvSpPr>
          <p:spPr>
            <a:xfrm>
              <a:off x="4532563" y="1984078"/>
              <a:ext cx="3005965" cy="3005966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5" name="弧形 24"/>
            <p:cNvSpPr/>
            <p:nvPr/>
          </p:nvSpPr>
          <p:spPr>
            <a:xfrm>
              <a:off x="4510312" y="1961827"/>
              <a:ext cx="3050467" cy="3050467"/>
            </a:xfrm>
            <a:prstGeom prst="arc">
              <a:avLst>
                <a:gd name="adj1" fmla="val 11188636"/>
                <a:gd name="adj2" fmla="val 15918841"/>
              </a:avLst>
            </a:prstGeom>
            <a:noFill/>
            <a:ln w="82550" cap="rnd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 rot="5400000">
              <a:off x="4510311" y="1961827"/>
              <a:ext cx="3050467" cy="3050467"/>
            </a:xfrm>
            <a:prstGeom prst="arc">
              <a:avLst>
                <a:gd name="adj1" fmla="val 11188636"/>
                <a:gd name="adj2" fmla="val 15918841"/>
              </a:avLst>
            </a:prstGeom>
            <a:noFill/>
            <a:ln w="82550" cap="rnd" cmpd="sng" algn="ctr">
              <a:solidFill>
                <a:schemeClr val="bg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7" name="弧形 26"/>
            <p:cNvSpPr/>
            <p:nvPr/>
          </p:nvSpPr>
          <p:spPr>
            <a:xfrm rot="10800000">
              <a:off x="4510312" y="1961827"/>
              <a:ext cx="3050467" cy="3050467"/>
            </a:xfrm>
            <a:prstGeom prst="arc">
              <a:avLst>
                <a:gd name="adj1" fmla="val 11188636"/>
                <a:gd name="adj2" fmla="val 15918841"/>
              </a:avLst>
            </a:prstGeom>
            <a:noFill/>
            <a:ln w="82550" cap="rnd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8" name="弧形 27"/>
            <p:cNvSpPr/>
            <p:nvPr/>
          </p:nvSpPr>
          <p:spPr>
            <a:xfrm rot="16200000">
              <a:off x="4510312" y="1961828"/>
              <a:ext cx="3050467" cy="3050467"/>
            </a:xfrm>
            <a:prstGeom prst="arc">
              <a:avLst>
                <a:gd name="adj1" fmla="val 11188636"/>
                <a:gd name="adj2" fmla="val 15918841"/>
              </a:avLst>
            </a:prstGeom>
            <a:noFill/>
            <a:ln w="82550" cap="rnd" cmpd="sng" algn="ctr">
              <a:solidFill>
                <a:schemeClr val="bg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9" name="任意多边形 47"/>
            <p:cNvSpPr/>
            <p:nvPr/>
          </p:nvSpPr>
          <p:spPr>
            <a:xfrm>
              <a:off x="4430081" y="2231873"/>
              <a:ext cx="408510" cy="130496"/>
            </a:xfrm>
            <a:custGeom>
              <a:avLst/>
              <a:gdLst>
                <a:gd name="connsiteX0" fmla="*/ 548640 w 548640"/>
                <a:gd name="connsiteY0" fmla="*/ 175260 h 175260"/>
                <a:gd name="connsiteX1" fmla="*/ 320040 w 548640"/>
                <a:gd name="connsiteY1" fmla="*/ 38100 h 175260"/>
                <a:gd name="connsiteX2" fmla="*/ 0 w 548640"/>
                <a:gd name="connsiteY2" fmla="*/ 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175260">
                  <a:moveTo>
                    <a:pt x="548640" y="175260"/>
                  </a:moveTo>
                  <a:cubicBezTo>
                    <a:pt x="480060" y="121285"/>
                    <a:pt x="411480" y="67310"/>
                    <a:pt x="320040" y="38100"/>
                  </a:cubicBezTo>
                  <a:cubicBezTo>
                    <a:pt x="228600" y="8890"/>
                    <a:pt x="114300" y="4445"/>
                    <a:pt x="0" y="0"/>
                  </a:cubicBezTo>
                </a:path>
              </a:pathLst>
            </a:custGeom>
            <a:noFill/>
            <a:ln w="12700" cap="flat" cmpd="sng" algn="ctr">
              <a:solidFill>
                <a:schemeClr val="accent1"/>
              </a:solidFill>
              <a:prstDash val="sys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0" name="任意多边形 48"/>
            <p:cNvSpPr/>
            <p:nvPr/>
          </p:nvSpPr>
          <p:spPr>
            <a:xfrm>
              <a:off x="7170295" y="2186306"/>
              <a:ext cx="389057" cy="87657"/>
            </a:xfrm>
            <a:custGeom>
              <a:avLst/>
              <a:gdLst>
                <a:gd name="connsiteX0" fmla="*/ 0 w 522514"/>
                <a:gd name="connsiteY0" fmla="*/ 117726 h 117726"/>
                <a:gd name="connsiteX1" fmla="*/ 203200 w 522514"/>
                <a:gd name="connsiteY1" fmla="*/ 16126 h 117726"/>
                <a:gd name="connsiteX2" fmla="*/ 522514 w 522514"/>
                <a:gd name="connsiteY2" fmla="*/ 1612 h 117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2514" h="117726">
                  <a:moveTo>
                    <a:pt x="0" y="117726"/>
                  </a:moveTo>
                  <a:cubicBezTo>
                    <a:pt x="58057" y="76602"/>
                    <a:pt x="116114" y="35478"/>
                    <a:pt x="203200" y="16126"/>
                  </a:cubicBezTo>
                  <a:cubicBezTo>
                    <a:pt x="290286" y="-3226"/>
                    <a:pt x="406400" y="-807"/>
                    <a:pt x="522514" y="1612"/>
                  </a:cubicBezTo>
                </a:path>
              </a:pathLst>
            </a:custGeom>
            <a:noFill/>
            <a:ln w="12700" cap="flat" cmpd="sng" algn="ctr">
              <a:solidFill>
                <a:schemeClr val="bg2">
                  <a:lumMod val="50000"/>
                </a:schemeClr>
              </a:solidFill>
              <a:prstDash val="sys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1" name="任意多边形 49"/>
            <p:cNvSpPr/>
            <p:nvPr/>
          </p:nvSpPr>
          <p:spPr>
            <a:xfrm rot="934880">
              <a:off x="7177394" y="4785238"/>
              <a:ext cx="453900" cy="32605"/>
            </a:xfrm>
            <a:custGeom>
              <a:avLst/>
              <a:gdLst>
                <a:gd name="connsiteX0" fmla="*/ 0 w 609600"/>
                <a:gd name="connsiteY0" fmla="*/ 14515 h 43790"/>
                <a:gd name="connsiteX1" fmla="*/ 275772 w 609600"/>
                <a:gd name="connsiteY1" fmla="*/ 43543 h 43790"/>
                <a:gd name="connsiteX2" fmla="*/ 609600 w 609600"/>
                <a:gd name="connsiteY2" fmla="*/ 0 h 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43790">
                  <a:moveTo>
                    <a:pt x="0" y="14515"/>
                  </a:moveTo>
                  <a:cubicBezTo>
                    <a:pt x="87086" y="30238"/>
                    <a:pt x="174172" y="45962"/>
                    <a:pt x="275772" y="43543"/>
                  </a:cubicBezTo>
                  <a:cubicBezTo>
                    <a:pt x="377372" y="41124"/>
                    <a:pt x="493486" y="20562"/>
                    <a:pt x="609600" y="0"/>
                  </a:cubicBezTo>
                </a:path>
              </a:pathLst>
            </a:custGeom>
            <a:noFill/>
            <a:ln w="12700" cap="flat" cmpd="sng" algn="ctr">
              <a:solidFill>
                <a:schemeClr val="accent1"/>
              </a:solidFill>
              <a:prstDash val="sys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32" name="任意多边形 50"/>
            <p:cNvSpPr/>
            <p:nvPr/>
          </p:nvSpPr>
          <p:spPr>
            <a:xfrm>
              <a:off x="4554968" y="4727182"/>
              <a:ext cx="410671" cy="142165"/>
            </a:xfrm>
            <a:custGeom>
              <a:avLst/>
              <a:gdLst>
                <a:gd name="connsiteX0" fmla="*/ 551543 w 551543"/>
                <a:gd name="connsiteY0" fmla="*/ 0 h 190931"/>
                <a:gd name="connsiteX1" fmla="*/ 304800 w 551543"/>
                <a:gd name="connsiteY1" fmla="*/ 174172 h 190931"/>
                <a:gd name="connsiteX2" fmla="*/ 0 w 551543"/>
                <a:gd name="connsiteY2" fmla="*/ 174172 h 19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1543" h="190931">
                  <a:moveTo>
                    <a:pt x="551543" y="0"/>
                  </a:moveTo>
                  <a:cubicBezTo>
                    <a:pt x="474133" y="72571"/>
                    <a:pt x="396724" y="145143"/>
                    <a:pt x="304800" y="174172"/>
                  </a:cubicBezTo>
                  <a:cubicBezTo>
                    <a:pt x="212876" y="203201"/>
                    <a:pt x="106438" y="188686"/>
                    <a:pt x="0" y="174172"/>
                  </a:cubicBezTo>
                </a:path>
              </a:pathLst>
            </a:custGeom>
            <a:noFill/>
            <a:ln w="12700" cap="flat" cmpd="sng" algn="ctr">
              <a:solidFill>
                <a:schemeClr val="bg2">
                  <a:lumMod val="50000"/>
                </a:schemeClr>
              </a:solidFill>
              <a:prstDash val="sys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549275" y="1915795"/>
            <a:ext cx="3651885" cy="21405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基于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Java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的聊天室系统，采用客户端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服务器（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C/S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）架构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实现了多个客户端通过服务器进行实时文字聊天和文件传输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使用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Swing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构建图形用户界面，用户体验友好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4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3249" y="1515711"/>
            <a:ext cx="2579460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71395" y="4881245"/>
            <a:ext cx="3596005" cy="779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实时多用户聊天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完整的文件传输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452369" y="4456654"/>
            <a:ext cx="2579460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986501" y="1899557"/>
            <a:ext cx="3039390" cy="1123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网络通信与多线程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TCP Socket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GUI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界面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数据处理与传输，统一消息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协议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050191" y="1515711"/>
            <a:ext cx="2579460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技术实现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986501" y="4373140"/>
            <a:ext cx="3039390" cy="1123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完善的异常处理和连接管理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用户名冲突检测和提示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文件大小限制和传输保护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80671" y="3989294"/>
            <a:ext cx="2579460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健壮性设计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11877" y="3611913"/>
            <a:ext cx="162073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47252" y="241858"/>
            <a:ext cx="32151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具体讲解</a:t>
            </a:r>
            <a:endParaRPr lang="zh-CN" altLang="en-US" sz="28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形 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7615" y="2472893"/>
            <a:ext cx="1116769" cy="1116769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2" r="16722" b="9445"/>
          <a:stretch>
            <a:fillRect/>
          </a:stretch>
        </p:blipFill>
        <p:spPr>
          <a:xfrm>
            <a:off x="0" y="64770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9783" y="2358393"/>
            <a:ext cx="667243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0" lang="zh-CN" altLang="en-US" sz="6000" b="1" i="0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endParaRPr kumimoji="0" lang="zh-CN" altLang="en-US" sz="6000" b="1" i="0" u="none" strike="noStrike" kern="1200" cap="none" spc="2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1216" y="3352801"/>
            <a:ext cx="574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pc="3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 Light" panose="020B0502040204020203" pitchFamily="34" charset="0"/>
                <a:ea typeface="思源黑体 CN Light" panose="020B0300000000000000" charset="-122"/>
                <a:cs typeface="Segoe UI Light" panose="020B0502040204020203" pitchFamily="34" charset="0"/>
              </a:rPr>
              <a:t>ENTER YOUR SUBTITLE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Light" panose="020B0502040204020203" pitchFamily="34" charset="0"/>
              <a:ea typeface="思源黑体 CN Light" panose="020B0300000000000000" charset="-122"/>
              <a:cs typeface="Segoe UI Light" panose="020B0502040204020203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19235" y="1443985"/>
            <a:ext cx="235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 04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924550" y="2171700"/>
            <a:ext cx="342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10" y="340995"/>
            <a:ext cx="4076065" cy="60267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70" y="570230"/>
            <a:ext cx="3493135" cy="5718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995" y="2406015"/>
            <a:ext cx="4295775" cy="22288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RmY2M1ZDQ1MjE1MTEyNTkxMWZmNzExYWUzZDA5NGMifQ=="/>
  <p:tag name="KSO_WPP_MARK_KEY" val="0ebc7680-b9f9-4f86-9063-aebd3572c849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39"/>
      </a:accent1>
      <a:accent2>
        <a:srgbClr val="008F77"/>
      </a:accent2>
      <a:accent3>
        <a:srgbClr val="ED7D31"/>
      </a:accent3>
      <a:accent4>
        <a:srgbClr val="FFC000"/>
      </a:accent4>
      <a:accent5>
        <a:srgbClr val="5B9BD5"/>
      </a:accent5>
      <a:accent6>
        <a:srgbClr val="F4F9F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WPS 演示</Application>
  <PresentationFormat>宽屏</PresentationFormat>
  <Paragraphs>92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10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DIN Light</vt:lpstr>
      <vt:lpstr>微软雅黑 Light</vt:lpstr>
      <vt:lpstr>Calibri</vt:lpstr>
      <vt:lpstr>等线</vt:lpstr>
      <vt:lpstr>Segoe UI</vt:lpstr>
      <vt:lpstr>Segoe UI Light</vt:lpstr>
      <vt:lpstr>Segoe UI Light</vt:lpstr>
      <vt:lpstr>楷体</vt:lpstr>
      <vt:lpstr>思源黑体 CN Light</vt:lpstr>
      <vt:lpstr>思源黑体 CN Bold</vt:lpstr>
      <vt:lpstr>Arial Unicode MS</vt:lpstr>
      <vt:lpstr>等线 Light</vt:lpstr>
      <vt:lpstr>Segoe UI Semilight</vt:lpstr>
      <vt:lpstr>Segoe UI</vt:lpstr>
      <vt:lpstr>Segoe Print</vt:lpstr>
      <vt:lpstr>方正小标宋_GBK</vt:lpstr>
      <vt:lpstr>仿宋</vt:lpstr>
      <vt:lpstr>黑体</vt:lpstr>
      <vt:lpstr>JetBrains Mono</vt:lpstr>
      <vt:lpstr>Courier New</vt:lpstr>
      <vt:lpstr>Century Gothic</vt:lpstr>
      <vt:lpstr>Office 主题​​</vt:lpstr>
      <vt:lpstr>1_OfficePLUS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张伟崇 张伟崇</dc:creator>
  <cp:lastModifiedBy>王文杰</cp:lastModifiedBy>
  <cp:revision>31</cp:revision>
  <dcterms:created xsi:type="dcterms:W3CDTF">2018-12-02T14:41:00Z</dcterms:created>
  <dcterms:modified xsi:type="dcterms:W3CDTF">2025-11-23T07:08:02Z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2019-04-13T11:11:07.3145489Z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9fae1650-fed4-4044-bd57-dbb3842a7978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CAFA1C69D04E4B418601782009E29086_13</vt:lpwstr>
  </property>
  <property fmtid="{D5CDD505-2E9C-101B-9397-08002B2CF9AE}" pid="12" name="KSOProductBuildVer">
    <vt:lpwstr>2052-12.1.0.23542</vt:lpwstr>
  </property>
</Properties>
</file>